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17" r:id="rId5"/>
    <p:sldId id="308" r:id="rId6"/>
    <p:sldId id="278" r:id="rId7"/>
    <p:sldId id="307" r:id="rId8"/>
    <p:sldId id="309" r:id="rId9"/>
    <p:sldId id="310" r:id="rId10"/>
    <p:sldId id="311" r:id="rId11"/>
    <p:sldId id="312" r:id="rId12"/>
    <p:sldId id="316" r:id="rId13"/>
    <p:sldId id="314" r:id="rId14"/>
    <p:sldId id="315"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95405" autoAdjust="0"/>
  </p:normalViewPr>
  <p:slideViewPr>
    <p:cSldViewPr snapToGrid="0">
      <p:cViewPr varScale="1">
        <p:scale>
          <a:sx n="64" d="100"/>
          <a:sy n="64" d="100"/>
        </p:scale>
        <p:origin x="978" y="8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9/21/2026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9/21/2026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433038" y="-1099334"/>
            <a:ext cx="10360152" cy="5029200"/>
          </a:xfrm>
        </p:spPr>
        <p:txBody>
          <a:bodyPr anchor="ctr"/>
          <a:lstStyle/>
          <a:p>
            <a:r>
              <a:rPr lang="en-US" sz="2800" dirty="0"/>
              <a:t>Digital Health Information Access</a:t>
            </a:r>
            <a:br>
              <a:rPr lang="en-US" sz="2800" dirty="0"/>
            </a:br>
            <a:r>
              <a:rPr lang="en-US" sz="2800" dirty="0"/>
              <a:t>and Reproductive Health</a:t>
            </a:r>
            <a:br>
              <a:rPr lang="en-US" sz="2800" dirty="0"/>
            </a:br>
            <a:r>
              <a:rPr lang="en-US" sz="2800" dirty="0"/>
              <a:t>Literacy Among Adolescent In </a:t>
            </a:r>
            <a:br>
              <a:rPr lang="en-US" sz="2800" dirty="0"/>
            </a:br>
            <a:r>
              <a:rPr lang="en-US" sz="2800" dirty="0" err="1"/>
              <a:t>Bangladesg</a:t>
            </a:r>
            <a:endParaRPr lang="en-US" sz="2800" dirty="0"/>
          </a:p>
        </p:txBody>
      </p:sp>
      <p:sp>
        <p:nvSpPr>
          <p:cNvPr id="2" name="TextBox 1">
            <a:extLst>
              <a:ext uri="{FF2B5EF4-FFF2-40B4-BE49-F238E27FC236}">
                <a16:creationId xmlns:a16="http://schemas.microsoft.com/office/drawing/2014/main" id="{953385E2-21FB-015C-F355-10A2C6A82044}"/>
              </a:ext>
            </a:extLst>
          </p:cNvPr>
          <p:cNvSpPr txBox="1"/>
          <p:nvPr/>
        </p:nvSpPr>
        <p:spPr>
          <a:xfrm>
            <a:off x="2352782" y="3174715"/>
            <a:ext cx="5661061" cy="1631216"/>
          </a:xfrm>
          <a:prstGeom prst="rect">
            <a:avLst/>
          </a:prstGeom>
          <a:noFill/>
        </p:spPr>
        <p:txBody>
          <a:bodyPr wrap="square" rtlCol="0">
            <a:spAutoFit/>
          </a:bodyPr>
          <a:lstStyle/>
          <a:p>
            <a:r>
              <a:rPr lang="en-US" sz="2000" dirty="0"/>
              <a:t>Prepared By  : Nasima Akter </a:t>
            </a:r>
            <a:r>
              <a:rPr lang="en-US" sz="2000" dirty="0" err="1"/>
              <a:t>Nirjona</a:t>
            </a:r>
            <a:endParaRPr lang="en-US" sz="2000" dirty="0"/>
          </a:p>
          <a:p>
            <a:r>
              <a:rPr lang="en-US" sz="2000" dirty="0"/>
              <a:t>Supervisor    :Dr. </a:t>
            </a:r>
            <a:r>
              <a:rPr lang="en-US" sz="2000" dirty="0" err="1"/>
              <a:t>Shakhaoat</a:t>
            </a:r>
            <a:r>
              <a:rPr lang="en-US" sz="2000" dirty="0"/>
              <a:t> Hossain</a:t>
            </a:r>
          </a:p>
          <a:p>
            <a:r>
              <a:rPr lang="en-US" sz="2000" dirty="0"/>
              <a:t>Department : Public Health and Information</a:t>
            </a:r>
          </a:p>
          <a:p>
            <a:r>
              <a:rPr lang="en-US" sz="2000" dirty="0"/>
              <a:t>Batch           : 04(WMPH)</a:t>
            </a:r>
          </a:p>
          <a:p>
            <a:r>
              <a:rPr lang="en-US" sz="2000" dirty="0"/>
              <a:t>University     : Jahangirnagar University</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914400" y="914400"/>
            <a:ext cx="5641848" cy="5029200"/>
          </a:xfrm>
        </p:spPr>
        <p:txBody>
          <a:bodyPr/>
          <a:lstStyle/>
          <a:p>
            <a:r>
              <a:rPr lang="en-US" sz="2800" dirty="0"/>
              <a:t>1. INTRODUCTION</a:t>
            </a:r>
            <a:br>
              <a:rPr lang="en-US" sz="2800" dirty="0"/>
            </a:br>
            <a:br>
              <a:rPr lang="en-US" sz="2800" dirty="0"/>
            </a:br>
            <a:r>
              <a:rPr lang="en-US" sz="2800" dirty="0"/>
              <a:t>2. OBJECTIVES</a:t>
            </a:r>
            <a:br>
              <a:rPr lang="en-US" sz="2800" dirty="0"/>
            </a:br>
            <a:br>
              <a:rPr lang="en-US" sz="2800" dirty="0"/>
            </a:br>
            <a:r>
              <a:rPr lang="en-US" sz="2800" dirty="0"/>
              <a:t>3. METHODS</a:t>
            </a:r>
            <a:br>
              <a:rPr lang="en-US" sz="2800" dirty="0"/>
            </a:br>
            <a:br>
              <a:rPr lang="en-US" sz="2800" dirty="0"/>
            </a:br>
            <a:r>
              <a:rPr lang="en-US" sz="2800" dirty="0"/>
              <a:t>4. EXPECTED OUTCOMES</a:t>
            </a:r>
            <a:br>
              <a:rPr lang="en-US" sz="2800" dirty="0"/>
            </a:br>
            <a:br>
              <a:rPr lang="en-US" sz="2800" dirty="0"/>
            </a:br>
            <a:r>
              <a:rPr lang="en-US" sz="2800" dirty="0"/>
              <a:t>5. LIMITATIONS</a:t>
            </a:r>
            <a:br>
              <a:rPr lang="en-US" sz="2800" dirty="0"/>
            </a:br>
            <a:r>
              <a:rPr lang="en-US" sz="2800" dirty="0"/>
              <a:t>6. CONCLUSION</a:t>
            </a:r>
            <a:br>
              <a:rPr lang="en-US" sz="2800" dirty="0"/>
            </a:br>
            <a:r>
              <a:rPr lang="en-US" sz="2800" dirty="0"/>
              <a:t>7. REFERENCES (TO BE UPDATED WITH RECENT LITERATURE0</a:t>
            </a:r>
            <a:br>
              <a:rPr lang="en-US" sz="4400" dirty="0"/>
            </a:br>
            <a:br>
              <a:rPr lang="en-US" dirty="0"/>
            </a:br>
            <a:endParaRPr lang="en-US" dirty="0"/>
          </a:p>
        </p:txBody>
      </p:sp>
      <p:pic>
        <p:nvPicPr>
          <p:cNvPr id="6" name="Picture Placeholder 5">
            <a:extLst>
              <a:ext uri="{FF2B5EF4-FFF2-40B4-BE49-F238E27FC236}">
                <a16:creationId xmlns:a16="http://schemas.microsoft.com/office/drawing/2014/main" id="{FFEC948D-845D-0891-C73A-E76253C164D4}"/>
              </a:ext>
            </a:extLst>
          </p:cNvPr>
          <p:cNvPicPr>
            <a:picLocks noGrp="1" noChangeAspect="1"/>
          </p:cNvPicPr>
          <p:nvPr>
            <p:ph type="pic" idx="1"/>
          </p:nvPr>
        </p:nvPicPr>
        <p:blipFill>
          <a:blip r:embed="rId3"/>
          <a:srcRect l="25749" r="25749"/>
          <a:stretch>
            <a:fillRect/>
          </a:stretch>
        </p:blipFill>
        <p:spPr>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rgbClr val="E5DACF">
              <a:lumMod val="75000"/>
            </a:srgbClr>
          </a:solidFill>
        </p:spPr>
      </p:pic>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2383604" y="200512"/>
            <a:ext cx="5470662" cy="521644"/>
          </a:xfrm>
        </p:spPr>
        <p:txBody>
          <a:bodyPr/>
          <a:lstStyle/>
          <a:p>
            <a:pPr algn="ctr"/>
            <a:r>
              <a:rPr lang="en-US" sz="4400" b="1" dirty="0" err="1">
                <a:solidFill>
                  <a:srgbClr val="000000"/>
                </a:solidFill>
                <a:latin typeface="Arial" panose="020B0604020202020204" pitchFamily="34" charset="0"/>
                <a:cs typeface="Arial" panose="020B0604020202020204" pitchFamily="34" charset="0"/>
              </a:rPr>
              <a:t>intriductionS</a:t>
            </a:r>
            <a:endParaRPr lang="en-US" sz="4400" b="1" dirty="0">
              <a:solidFill>
                <a:srgbClr val="000000"/>
              </a:solidFill>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16A50637-9BA9-427C-3D71-A1BD36B778CD}"/>
              </a:ext>
            </a:extLst>
          </p:cNvPr>
          <p:cNvSpPr>
            <a:spLocks noGrp="1"/>
          </p:cNvSpPr>
          <p:nvPr>
            <p:ph type="title"/>
          </p:nvPr>
        </p:nvSpPr>
        <p:spPr>
          <a:xfrm>
            <a:off x="2383604" y="1037689"/>
            <a:ext cx="5449824" cy="3538728"/>
          </a:xfrm>
        </p:spPr>
        <p:txBody>
          <a:bodyPr/>
          <a:lstStyle/>
          <a:p>
            <a:pPr algn="ctr"/>
            <a:r>
              <a:rPr lang="en-US" sz="2000" dirty="0"/>
              <a:t>Adolescents need accurate reproductive health information to make informed decisions and maintain healthy behaviors. However, many adolescents in Bangladesh have limited access to reliable information due to social and cultural barriers. This study aims to examine the association between access to reproductive health information and adolescents' knowledge, attitudes, and practices (KAP) in Bangladesh.</a:t>
            </a:r>
          </a:p>
        </p:txBody>
      </p:sp>
    </p:spTree>
    <p:extLst>
      <p:ext uri="{BB962C8B-B14F-4D97-AF65-F5344CB8AC3E}">
        <p14:creationId xmlns:p14="http://schemas.microsoft.com/office/powerpoint/2010/main" val="52000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60">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4042617" y="-128345"/>
            <a:ext cx="5641848" cy="863029"/>
          </a:xfrm>
        </p:spPr>
        <p:txBody>
          <a:bodyPr/>
          <a:lstStyle/>
          <a:p>
            <a:r>
              <a:rPr lang="en-US" b="1" dirty="0">
                <a:solidFill>
                  <a:srgbClr val="000000"/>
                </a:solidFill>
                <a:latin typeface="Arial" panose="020B0604020202020204" pitchFamily="34" charset="0"/>
                <a:cs typeface="Arial" panose="020B0604020202020204" pitchFamily="34" charset="0"/>
              </a:rPr>
              <a:t>OBJECTIVES</a:t>
            </a:r>
          </a:p>
        </p:txBody>
      </p:sp>
      <p:pic>
        <p:nvPicPr>
          <p:cNvPr id="7" name="Content Placeholder 6">
            <a:extLst>
              <a:ext uri="{FF2B5EF4-FFF2-40B4-BE49-F238E27FC236}">
                <a16:creationId xmlns:a16="http://schemas.microsoft.com/office/drawing/2014/main" id="{588F9189-1537-D8FC-127E-C03CE276D9B2}"/>
              </a:ext>
            </a:extLst>
          </p:cNvPr>
          <p:cNvPicPr>
            <a:picLocks noGrp="1" noChangeAspect="1"/>
          </p:cNvPicPr>
          <p:nvPr>
            <p:ph idx="1"/>
          </p:nvPr>
        </p:nvPicPr>
        <p:blipFill>
          <a:blip r:embed="rId3"/>
          <a:stretch>
            <a:fillRect/>
          </a:stretch>
        </p:blipFill>
        <p:spPr>
          <a:xfrm>
            <a:off x="0" y="1243112"/>
            <a:ext cx="5110162" cy="4880204"/>
          </a:xfrm>
          <a:prstGeom prst="rect">
            <a:avLst/>
          </a:prstGeom>
        </p:spPr>
      </p:pic>
      <p:sp>
        <p:nvSpPr>
          <p:cNvPr id="9" name="TextBox 8">
            <a:extLst>
              <a:ext uri="{FF2B5EF4-FFF2-40B4-BE49-F238E27FC236}">
                <a16:creationId xmlns:a16="http://schemas.microsoft.com/office/drawing/2014/main" id="{D26505AF-265D-82E1-53DE-A38CA78323C4}"/>
              </a:ext>
            </a:extLst>
          </p:cNvPr>
          <p:cNvSpPr txBox="1"/>
          <p:nvPr/>
        </p:nvSpPr>
        <p:spPr>
          <a:xfrm>
            <a:off x="6380252" y="1150706"/>
            <a:ext cx="4777483" cy="584775"/>
          </a:xfrm>
          <a:prstGeom prst="rect">
            <a:avLst/>
          </a:prstGeom>
          <a:noFill/>
        </p:spPr>
        <p:txBody>
          <a:bodyPr wrap="square" rtlCol="0">
            <a:spAutoFit/>
          </a:bodyPr>
          <a:lstStyle/>
          <a:p>
            <a:r>
              <a:rPr lang="en-US" sz="3200" dirty="0">
                <a:solidFill>
                  <a:srgbClr val="000000"/>
                </a:solidFill>
              </a:rPr>
              <a:t>General Objective</a:t>
            </a:r>
          </a:p>
        </p:txBody>
      </p:sp>
      <p:sp>
        <p:nvSpPr>
          <p:cNvPr id="10" name="TextBox 9">
            <a:extLst>
              <a:ext uri="{FF2B5EF4-FFF2-40B4-BE49-F238E27FC236}">
                <a16:creationId xmlns:a16="http://schemas.microsoft.com/office/drawing/2014/main" id="{662D2CE2-F917-D9F3-C5E7-2C0FC7728945}"/>
              </a:ext>
            </a:extLst>
          </p:cNvPr>
          <p:cNvSpPr txBox="1"/>
          <p:nvPr/>
        </p:nvSpPr>
        <p:spPr>
          <a:xfrm>
            <a:off x="6616557" y="2126751"/>
            <a:ext cx="5445304" cy="3970318"/>
          </a:xfrm>
          <a:prstGeom prst="rect">
            <a:avLst/>
          </a:prstGeom>
          <a:noFill/>
        </p:spPr>
        <p:txBody>
          <a:bodyPr wrap="square" rtlCol="0">
            <a:spAutoFit/>
          </a:bodyPr>
          <a:lstStyle/>
          <a:p>
            <a:r>
              <a:rPr lang="en-US" sz="3600" dirty="0"/>
              <a:t>To assess the association between access to reproductive health information and knowledge, attitudes, and practices among adolescents in Bangladesh.</a:t>
            </a:r>
          </a:p>
        </p:txBody>
      </p:sp>
    </p:spTree>
    <p:extLst>
      <p:ext uri="{BB962C8B-B14F-4D97-AF65-F5344CB8AC3E}">
        <p14:creationId xmlns:p14="http://schemas.microsoft.com/office/powerpoint/2010/main" val="586478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dirty="0"/>
              <a:t>Specific Objectives</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49386"/>
            <a:ext cx="7150608" cy="3356576"/>
          </a:xfrm>
        </p:spPr>
        <p:txBody>
          <a:bodyPr>
            <a:normAutofit/>
          </a:bodyPr>
          <a:lstStyle/>
          <a:p>
            <a:r>
              <a:rPr lang="en-US" dirty="0"/>
              <a:t> To identify the major sources of reproductive health information among adolescents.</a:t>
            </a:r>
          </a:p>
          <a:p>
            <a:r>
              <a:rPr lang="en-US" dirty="0"/>
              <a:t> To measure the level of reproductive health knowledge.</a:t>
            </a:r>
          </a:p>
          <a:p>
            <a:r>
              <a:rPr lang="en-US" dirty="0"/>
              <a:t>To assess adolescents' attitudes toward reproductive health issues.</a:t>
            </a:r>
          </a:p>
          <a:p>
            <a:r>
              <a:rPr lang="en-US" dirty="0"/>
              <a:t>To evaluate reproductive health-related practices.-</a:t>
            </a:r>
          </a:p>
          <a:p>
            <a:r>
              <a:rPr lang="en-US" dirty="0"/>
              <a:t>To determine socio-demographic and other factors associated with access to reproductive health information.</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4000403" y="82297"/>
            <a:ext cx="10360152" cy="914400"/>
          </a:xfrm>
        </p:spPr>
        <p:txBody>
          <a:bodyPr/>
          <a:lstStyle/>
          <a:p>
            <a:r>
              <a:rPr lang="en-US" sz="3600" dirty="0"/>
              <a:t>Methods</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
        <p:nvSpPr>
          <p:cNvPr id="7" name="TextBox 6">
            <a:extLst>
              <a:ext uri="{FF2B5EF4-FFF2-40B4-BE49-F238E27FC236}">
                <a16:creationId xmlns:a16="http://schemas.microsoft.com/office/drawing/2014/main" id="{43BB3867-DB05-6D82-297E-AF0A1486AF52}"/>
              </a:ext>
            </a:extLst>
          </p:cNvPr>
          <p:cNvSpPr txBox="1"/>
          <p:nvPr/>
        </p:nvSpPr>
        <p:spPr>
          <a:xfrm>
            <a:off x="976045" y="1407560"/>
            <a:ext cx="10007029"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Study Design: Analytical cross-sectional </a:t>
            </a:r>
            <a:r>
              <a:rPr lang="en-US" sz="2400" dirty="0" err="1"/>
              <a:t>study.Study</a:t>
            </a:r>
            <a:endParaRPr lang="en-US" sz="2400" dirty="0"/>
          </a:p>
          <a:p>
            <a:pPr marL="285750" indent="-285750">
              <a:buFont typeface="Arial" panose="020B0604020202020204" pitchFamily="34" charset="0"/>
              <a:buChar char="•"/>
            </a:pPr>
            <a:r>
              <a:rPr lang="en-US" sz="2400" dirty="0"/>
              <a:t> Population: Adolescents aged 10–19 years.</a:t>
            </a:r>
          </a:p>
          <a:p>
            <a:pPr marL="285750" indent="-285750">
              <a:buFont typeface="Arial" panose="020B0604020202020204" pitchFamily="34" charset="0"/>
              <a:buChar char="•"/>
            </a:pPr>
            <a:r>
              <a:rPr lang="en-US" sz="2400" dirty="0"/>
              <a:t>Study Area: Selected secondary schools, colleges, and communities in Bangladesh.</a:t>
            </a:r>
          </a:p>
          <a:p>
            <a:pPr marL="285750" indent="-285750">
              <a:buFont typeface="Arial" panose="020B0604020202020204" pitchFamily="34" charset="0"/>
              <a:buChar char="•"/>
            </a:pPr>
            <a:r>
              <a:rPr lang="en-US" sz="2400" dirty="0"/>
              <a:t>Sampling Method: Multistage random sampling.</a:t>
            </a:r>
          </a:p>
          <a:p>
            <a:pPr marL="285750" indent="-285750">
              <a:buFont typeface="Arial" panose="020B0604020202020204" pitchFamily="34" charset="0"/>
              <a:buChar char="•"/>
            </a:pPr>
            <a:r>
              <a:rPr lang="en-US" sz="2400" dirty="0"/>
              <a:t>Sample Size: To be calculated using a standard statistical formula based on the expected prevalence and desired precision.</a:t>
            </a:r>
          </a:p>
          <a:p>
            <a:pPr marL="285750" indent="-285750">
              <a:buFont typeface="Arial" panose="020B0604020202020204" pitchFamily="34" charset="0"/>
              <a:buChar char="•"/>
            </a:pPr>
            <a:r>
              <a:rPr lang="en-US" sz="2400" dirty="0"/>
              <a:t>Data Collection Tool: A structured questionnaire consisting of socio-demographic characteristics, access to reproductive health information, knowledge, attitude, and practice sections.</a:t>
            </a:r>
          </a:p>
          <a:p>
            <a:pPr marL="285750" indent="-285750">
              <a:buFont typeface="Arial" panose="020B0604020202020204" pitchFamily="34" charset="0"/>
              <a:buChar char="•"/>
            </a:pPr>
            <a:r>
              <a:rPr lang="en-US" sz="2400" dirty="0"/>
              <a:t>Data Collection Procedure: Data will be collected by trained data collectors after obtaining informed consent (and parental/guardian consent where applicable).</a:t>
            </a:r>
          </a:p>
        </p:txBody>
      </p:sp>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4" name="TextBox 3">
            <a:extLst>
              <a:ext uri="{FF2B5EF4-FFF2-40B4-BE49-F238E27FC236}">
                <a16:creationId xmlns:a16="http://schemas.microsoft.com/office/drawing/2014/main" id="{0ED7456E-1D38-EC3B-5754-2391F5260BA9}"/>
              </a:ext>
            </a:extLst>
          </p:cNvPr>
          <p:cNvSpPr txBox="1"/>
          <p:nvPr/>
        </p:nvSpPr>
        <p:spPr>
          <a:xfrm>
            <a:off x="1972638" y="924674"/>
            <a:ext cx="8116584"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Data Analysis: Data will be entered, cleaned, and analyzed using statistical software. Descriptive statistics will summarize participant characteristics. Chi-square tests and logistic regression analyses will be used to examine associations. A p-value of less than 0.05 will be considered statistically significant.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Ethical Considerations: Ethical approval will be obtained from the appropriate institutional ethics committee. Participation will be voluntary, confidentiality will be maintained, and participants may withdraw at any time without consequence.</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dirty="0"/>
              <a:t>Expected Outcomes</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5650992" cy="3904488"/>
          </a:xfrm>
        </p:spPr>
        <p:txBody>
          <a:bodyPr/>
          <a:lstStyle/>
          <a:p>
            <a:r>
              <a:rPr lang="en-US" dirty="0"/>
              <a:t>The study is expected to identify the main sources of reproductive health information used by adolescents and evaluate their level of knowledge, attitudes, and practices. It is anticipated that adolescents with better access to reliable information will demonstrate higher knowledge levels and healthier attitudes and practices. The findings may support evidence-based adolescent reproductive health education and policy development in Bangladesh.</a:t>
            </a:r>
          </a:p>
        </p:txBody>
      </p:sp>
      <p:pic>
        <p:nvPicPr>
          <p:cNvPr id="15" name="Picture Placeholder 14" descr="A person in an apron holding a computer">
            <a:extLst>
              <a:ext uri="{FF2B5EF4-FFF2-40B4-BE49-F238E27FC236}">
                <a16:creationId xmlns:a16="http://schemas.microsoft.com/office/drawing/2014/main" id="{48869757-F643-C013-26AA-3DDE95080099}"/>
              </a:ext>
            </a:extLst>
          </p:cNvPr>
          <p:cNvPicPr>
            <a:picLocks noGrp="1" noChangeAspect="1"/>
          </p:cNvPicPr>
          <p:nvPr>
            <p:ph type="pic" sz="quarter" idx="10"/>
          </p:nvPr>
        </p:nvPicPr>
        <p:blipFill>
          <a:blip r:embed="rId3"/>
          <a:srcRect l="331" r="331"/>
          <a:stretch/>
        </p:blipFill>
        <p:spPr>
          <a:xfrm>
            <a:off x="7623125" y="-20757"/>
            <a:ext cx="4589511" cy="6555026"/>
          </a:xfrm>
        </p:spPr>
      </p:pic>
    </p:spTree>
    <p:extLst>
      <p:ext uri="{BB962C8B-B14F-4D97-AF65-F5344CB8AC3E}">
        <p14:creationId xmlns:p14="http://schemas.microsoft.com/office/powerpoint/2010/main" val="85990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
        <p:nvSpPr>
          <p:cNvPr id="11" name="TextBox 10">
            <a:extLst>
              <a:ext uri="{FF2B5EF4-FFF2-40B4-BE49-F238E27FC236}">
                <a16:creationId xmlns:a16="http://schemas.microsoft.com/office/drawing/2014/main" id="{47903092-3620-78D4-3916-ED095E50A8AC}"/>
              </a:ext>
            </a:extLst>
          </p:cNvPr>
          <p:cNvSpPr txBox="1"/>
          <p:nvPr/>
        </p:nvSpPr>
        <p:spPr>
          <a:xfrm>
            <a:off x="4171308" y="544530"/>
            <a:ext cx="2979505" cy="707886"/>
          </a:xfrm>
          <a:prstGeom prst="rect">
            <a:avLst/>
          </a:prstGeom>
          <a:noFill/>
        </p:spPr>
        <p:txBody>
          <a:bodyPr wrap="square" rtlCol="0">
            <a:spAutoFit/>
          </a:bodyPr>
          <a:lstStyle/>
          <a:p>
            <a:r>
              <a:rPr lang="en-US" sz="4000" dirty="0"/>
              <a:t>Limitations</a:t>
            </a:r>
          </a:p>
        </p:txBody>
      </p:sp>
      <p:sp>
        <p:nvSpPr>
          <p:cNvPr id="12" name="TextBox 11">
            <a:extLst>
              <a:ext uri="{FF2B5EF4-FFF2-40B4-BE49-F238E27FC236}">
                <a16:creationId xmlns:a16="http://schemas.microsoft.com/office/drawing/2014/main" id="{E6CA7071-0A9E-28B3-9554-928F64B78182}"/>
              </a:ext>
            </a:extLst>
          </p:cNvPr>
          <p:cNvSpPr txBox="1"/>
          <p:nvPr/>
        </p:nvSpPr>
        <p:spPr>
          <a:xfrm>
            <a:off x="1910993" y="1746607"/>
            <a:ext cx="8969340" cy="2308324"/>
          </a:xfrm>
          <a:prstGeom prst="rect">
            <a:avLst/>
          </a:prstGeom>
          <a:noFill/>
        </p:spPr>
        <p:txBody>
          <a:bodyPr wrap="square" rtlCol="0">
            <a:spAutoFit/>
          </a:bodyPr>
          <a:lstStyle/>
          <a:p>
            <a:pPr marL="285750" indent="-285750">
              <a:buFont typeface="Wingdings" panose="05000000000000000000" pitchFamily="2" charset="2"/>
              <a:buChar char="Ø"/>
            </a:pPr>
            <a:r>
              <a:rPr lang="en-US" dirty="0"/>
              <a:t>The cross-sectional design will not establish cause-and-effect relationships.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Self-reported responses may be affected by recall bias or social desirability bias.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Sensitive topics may influence participants' willingness to provide completely accurate responses.-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 Findings from selected study areas may not fully represent all adolescents in Bangladesh.</a:t>
            </a:r>
          </a:p>
        </p:txBody>
      </p:sp>
    </p:spTree>
    <p:extLst>
      <p:ext uri="{BB962C8B-B14F-4D97-AF65-F5344CB8AC3E}">
        <p14:creationId xmlns:p14="http://schemas.microsoft.com/office/powerpoint/2010/main" val="53780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595901" y="0"/>
            <a:ext cx="10360152" cy="914400"/>
          </a:xfrm>
        </p:spPr>
        <p:txBody>
          <a:bodyPr/>
          <a:lstStyle/>
          <a:p>
            <a:pPr algn="ctr"/>
            <a:r>
              <a:rPr lang="en-US" dirty="0"/>
              <a:t>Conclusion</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
        <p:nvSpPr>
          <p:cNvPr id="10" name="TextBox 9">
            <a:extLst>
              <a:ext uri="{FF2B5EF4-FFF2-40B4-BE49-F238E27FC236}">
                <a16:creationId xmlns:a16="http://schemas.microsoft.com/office/drawing/2014/main" id="{2F3BE3E8-9135-F7E4-EA79-77D5438DD9FC}"/>
              </a:ext>
            </a:extLst>
          </p:cNvPr>
          <p:cNvSpPr txBox="1"/>
          <p:nvPr/>
        </p:nvSpPr>
        <p:spPr>
          <a:xfrm>
            <a:off x="1839074" y="1356189"/>
            <a:ext cx="8804953" cy="2787430"/>
          </a:xfrm>
          <a:prstGeom prst="rect">
            <a:avLst/>
          </a:prstGeom>
          <a:noFill/>
        </p:spPr>
        <p:txBody>
          <a:bodyPr wrap="square" rtlCol="0">
            <a:spAutoFit/>
          </a:bodyPr>
          <a:lstStyle/>
          <a:p>
            <a:pPr>
              <a:lnSpc>
                <a:spcPct val="200000"/>
              </a:lnSpc>
            </a:pPr>
            <a:r>
              <a:rPr lang="en-US" dirty="0"/>
              <a:t>Access to accurate reproductive health information plays an important role in improving adolescents' knowledge, attitudes, and practices. This study will generate evidence on existing information sources, barriers, and associated factors among adolescents in Bangladesh. The findings may contribute to strengthening adolescent-friendly health education strategies and supporting future public health policies and interventions.</a:t>
            </a:r>
          </a:p>
        </p:txBody>
      </p:sp>
    </p:spTree>
    <p:extLst>
      <p:ext uri="{BB962C8B-B14F-4D97-AF65-F5344CB8AC3E}">
        <p14:creationId xmlns:p14="http://schemas.microsoft.com/office/powerpoint/2010/main" val="4132147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914400" y="459912"/>
            <a:ext cx="10360025" cy="914400"/>
          </a:xfrm>
        </p:spPr>
        <p:txBody>
          <a:bodyPr/>
          <a:lstStyle/>
          <a:p>
            <a:pPr algn="ctr"/>
            <a:r>
              <a:rPr lang="en-US" dirty="0"/>
              <a:t>References</a:t>
            </a:r>
            <a:br>
              <a:rPr lang="en-US" dirty="0"/>
            </a:br>
            <a:r>
              <a:rPr lang="en-US" dirty="0"/>
              <a:t> (to be updated with recent literature)</a:t>
            </a:r>
          </a:p>
        </p:txBody>
      </p:sp>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
        <p:nvSpPr>
          <p:cNvPr id="12" name="TextBox 11">
            <a:extLst>
              <a:ext uri="{FF2B5EF4-FFF2-40B4-BE49-F238E27FC236}">
                <a16:creationId xmlns:a16="http://schemas.microsoft.com/office/drawing/2014/main" id="{C1110FF4-BA1F-A9DF-05B5-CF76112B13BE}"/>
              </a:ext>
            </a:extLst>
          </p:cNvPr>
          <p:cNvSpPr txBox="1"/>
          <p:nvPr/>
        </p:nvSpPr>
        <p:spPr>
          <a:xfrm>
            <a:off x="1407560" y="2157573"/>
            <a:ext cx="10150867" cy="1754326"/>
          </a:xfrm>
          <a:prstGeom prst="rect">
            <a:avLst/>
          </a:prstGeom>
          <a:noFill/>
        </p:spPr>
        <p:txBody>
          <a:bodyPr wrap="square" rtlCol="0">
            <a:spAutoFit/>
          </a:bodyPr>
          <a:lstStyle/>
          <a:p>
            <a:pPr marL="342900" indent="-342900">
              <a:buFont typeface="+mj-lt"/>
              <a:buAutoNum type="arabicPeriod"/>
            </a:pPr>
            <a:r>
              <a:rPr lang="en-US" dirty="0"/>
              <a:t> World Health Organization (WHO).</a:t>
            </a:r>
          </a:p>
          <a:p>
            <a:pPr marL="342900" indent="-342900">
              <a:buFont typeface="+mj-lt"/>
              <a:buAutoNum type="arabicPeriod"/>
            </a:pPr>
            <a:r>
              <a:rPr lang="en-US" dirty="0"/>
              <a:t> United Nations Population Fund (UNFPA).</a:t>
            </a:r>
          </a:p>
          <a:p>
            <a:pPr marL="342900" indent="-342900">
              <a:buFont typeface="+mj-lt"/>
              <a:buAutoNum type="arabicPeriod"/>
            </a:pPr>
            <a:r>
              <a:rPr lang="en-US" dirty="0"/>
              <a:t> United Nations Children's Fund (UNICEF).</a:t>
            </a:r>
          </a:p>
          <a:p>
            <a:pPr marL="342900" indent="-342900">
              <a:buFont typeface="+mj-lt"/>
              <a:buAutoNum type="arabicPeriod"/>
            </a:pPr>
            <a:r>
              <a:rPr lang="en-US" dirty="0"/>
              <a:t> Bangladesh Demographic and Health Survey (BDHS).</a:t>
            </a:r>
          </a:p>
          <a:p>
            <a:pPr marL="342900" indent="-342900">
              <a:buFont typeface="+mj-lt"/>
              <a:buAutoNum type="arabicPeriod"/>
            </a:pPr>
            <a:r>
              <a:rPr lang="en-US" dirty="0"/>
              <a:t> Recent peer-reviewed journal articles (published within the last 5 years) related to adolescent reproductive health and KAP studies.</a:t>
            </a:r>
          </a:p>
        </p:txBody>
      </p:sp>
    </p:spTree>
    <p:extLst>
      <p:ext uri="{BB962C8B-B14F-4D97-AF65-F5344CB8AC3E}">
        <p14:creationId xmlns:p14="http://schemas.microsoft.com/office/powerpoint/2010/main" val="3064996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Facet</Template>
  <TotalTime>144</TotalTime>
  <Words>682</Words>
  <Application>Microsoft Office PowerPoint</Application>
  <PresentationFormat>Widescreen</PresentationFormat>
  <Paragraphs>66</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Courier New</vt:lpstr>
      <vt:lpstr>Gill Sans Nova Light</vt:lpstr>
      <vt:lpstr>Sagona Book</vt:lpstr>
      <vt:lpstr>Wingdings</vt:lpstr>
      <vt:lpstr>Custom</vt:lpstr>
      <vt:lpstr>Digital Health Information Access and Reproductive Health Literacy Among Adolescent In  Bangladesg</vt:lpstr>
      <vt:lpstr>1. INTRODUCTION  2. OBJECTIVES  3. METHODS  4. EXPECTED OUTCOMES  5. LIMITATIONS 6. CONCLUSION 7. REFERENCES (TO BE UPDATED WITH RECENT LITERATURE0  </vt:lpstr>
      <vt:lpstr>Adolescents need accurate reproductive health information to make informed decisions and maintain healthy behaviors. However, many adolescents in Bangladesh have limited access to reliable information due to social and cultural barriers. This study aims to examine the association between access to reproductive health information and adolescents' knowledge, attitudes, and practices (KAP) in Bangladesh.</vt:lpstr>
      <vt:lpstr>OBJECTIVES</vt:lpstr>
      <vt:lpstr>Specific Objectives</vt:lpstr>
      <vt:lpstr>Methods</vt:lpstr>
      <vt:lpstr>PowerPoint Presentation</vt:lpstr>
      <vt:lpstr>Expected Outcomes</vt:lpstr>
      <vt:lpstr>PowerPoint Presentation</vt:lpstr>
      <vt:lpstr>Conclusion</vt:lpstr>
      <vt:lpstr>References  (to be updated with recent literature)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Nishat Mim</cp:lastModifiedBy>
  <cp:revision>5</cp:revision>
  <dcterms:created xsi:type="dcterms:W3CDTF">2026-07-09T05:27:38Z</dcterms:created>
  <dcterms:modified xsi:type="dcterms:W3CDTF">2026-09-21T06:09:12Z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